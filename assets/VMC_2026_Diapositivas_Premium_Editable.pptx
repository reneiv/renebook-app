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774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F9DB-0F5D-88E5-562F-60D618D90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947C9-2444-1F91-F5C7-0407029C0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3FE5B-6D41-6BCA-A033-5FF9F6656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914A3-7595-FF42-DD19-71F9E59F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20CB-6551-7038-B7C4-492BFF64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692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E36D-16D4-CA7E-D856-170020B8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DE31-921A-9110-A412-02FBD5CEC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B4AB-2843-1445-3EA8-5A4CF7C4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F8103-BA7E-952C-A1F4-60EC06D5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EBF7-AD6F-EA27-819D-8DA09DD7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6756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C645-6AC5-FBC7-25DC-304A943B7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65E6D-9D38-92F4-D3B5-E0166B2BC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D6D90-138E-3D4C-EFBF-B9D47C7E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6A5EA-9741-C956-F928-A2EA1D21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85DA5-29E3-87D0-947F-6F58163B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005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6AA3-9E0D-853D-870E-0C9C5463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5833E-D04A-CBAD-1291-1B0AF2012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947B7-0C47-0E07-5943-3467D1D08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AD04C-E1B8-A86C-717D-9234836C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B3905-376B-3670-6D81-9F432C10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081B2-BDA8-C016-614B-D0AF98E5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716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D3F2-C2E3-8367-C209-BC508F16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94615-9694-0C76-11B1-9B73C69D3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A681F-2CF2-4E45-1DDC-E0D4946FB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11C27-2A43-F931-6790-C0DE3C0D0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1C282-7359-5883-210A-66D3EC8D7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97843C-8B70-D2D1-4B9A-9BBEA9D63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7A05EE-A9ED-B100-6258-AA2455F8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982A4-3A2D-ADEE-CB28-13449655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240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68F1-BB46-D89A-CE1E-DB14DB6D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D70735-AF2A-6915-FAA9-2266FEB17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94D1A-5CCD-0C0C-E1C5-F5453879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BA4B5-1FFD-5CAA-F485-9A6C2FCF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807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1E659-639B-FD09-219E-70C081DC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C90D2-CF21-A8A0-C83A-495994B3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26CCC-741F-1539-CFDA-21A6417D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3701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5A58-78D2-9423-0407-58CA47EA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B56F8-02E6-AE71-F7EC-3BE955D5B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37AD9-700B-20EA-0C4B-A93ACAFB1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D24B1-BE31-F5B6-23B1-078B4A8A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11029-13D9-F0D4-8850-5818A12B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59802-E0D0-1E2A-0FD9-85F8C3D7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2277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5C0F-0BD1-A2F8-5E9A-0C74CFF1F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B2F72F-E066-6461-1E88-9C5342B44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D3BDC-C168-47ED-1BD8-598644AD4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539B-63A5-CE84-9AA1-CFFCC8F6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CD610-94B4-D1D4-6A39-C2F9FF73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8CD45-C2DE-E95C-284E-ED92B309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8790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09B0-5839-83E7-A67C-B12BA668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9CBC6-F388-5F18-22F9-4CA98E0A7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71ED-1495-AF24-EE67-83F4EB64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AE53F-FDA5-61B2-D54E-E186CFBB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80EF2-CADC-D716-369E-7F6A7EDF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8370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4DC0C-685B-ED81-1B8D-1776B3B00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32503-7D1E-14F8-126C-6DB6A162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1EBE-B4E7-6B4F-BB61-1494E118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16677-4D4B-B300-A787-D791CA11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33C6C-8BDF-F48D-7B51-700744A5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970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38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CC363-BFCA-F448-89C4-B23F59BE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CF05A-D95F-43C7-5872-847618491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2D33-E15E-19D0-5D0B-83C51AF0E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6059E-8D4E-79CC-7FFD-1FE0C844D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C3FC3-896D-9D65-2C04-72FC60EC5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34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legant_corporate_branding_with_gold_accents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legant_branding_for_church_leadership_vision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rporate_network_and_collaboration_branding_desig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legant_corporate_route_overview_slid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rategic_network_map_of_californi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gional_strategy_map_with_gold_accents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rategic_map_of_southern_california_zones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rategic_regional_expansion_plan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zona_centro_vision_overview_infographic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mium_corporate_slide_design_layout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zona_norte_de_california_overview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b21196d-225a-5d4d-9b2e-14909d95ea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9143"/>
            <a:ext cx="5894614" cy="1267565"/>
          </a:xfrm>
          <a:prstGeom prst="roundRect">
            <a:avLst/>
          </a:prstGeom>
          <a:solidFill>
            <a:srgbClr val="06224F"/>
          </a:solidFill>
          <a:ln>
            <a:solidFill>
              <a:srgbClr val="D4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2592" y="131662"/>
            <a:ext cx="53734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dirty="0">
                <a:solidFill>
                  <a:srgbClr val="FFFFFF"/>
                </a:solidFill>
                <a:latin typeface="Times New Roman"/>
              </a:rPr>
              <a:t>Zona Norte – </a:t>
            </a:r>
            <a:r>
              <a:rPr sz="2500" b="1" dirty="0" err="1">
                <a:solidFill>
                  <a:srgbClr val="FFFFFF"/>
                </a:solidFill>
                <a:latin typeface="Times New Roman"/>
              </a:rPr>
              <a:t>corredor</a:t>
            </a:r>
            <a:r>
              <a:rPr sz="2500" b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500" b="1" dirty="0" err="1">
                <a:solidFill>
                  <a:srgbClr val="FFFFFF"/>
                </a:solidFill>
                <a:latin typeface="Times New Roman"/>
              </a:rPr>
              <a:t>norte</a:t>
            </a:r>
            <a:endParaRPr sz="2500" b="1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9968" y="616826"/>
            <a:ext cx="4362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DFE4EC"/>
                </a:solidFill>
                <a:latin typeface="Aptos"/>
              </a:rPr>
              <a:t>Mapa de </a:t>
            </a:r>
            <a:r>
              <a:rPr sz="1400" dirty="0" err="1">
                <a:solidFill>
                  <a:srgbClr val="DFE4EC"/>
                </a:solidFill>
                <a:latin typeface="Aptos"/>
              </a:rPr>
              <a:t>ciudades</a:t>
            </a:r>
            <a:r>
              <a:rPr sz="1400" dirty="0">
                <a:solidFill>
                  <a:srgbClr val="DFE4EC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DFE4EC"/>
                </a:solidFill>
                <a:latin typeface="Aptos"/>
              </a:rPr>
              <a:t>ancla</a:t>
            </a:r>
            <a:r>
              <a:rPr sz="1400" dirty="0">
                <a:solidFill>
                  <a:srgbClr val="DFE4EC"/>
                </a:solidFill>
                <a:latin typeface="Aptos"/>
              </a:rPr>
              <a:t> y </a:t>
            </a:r>
            <a:r>
              <a:rPr sz="1400" dirty="0" err="1">
                <a:solidFill>
                  <a:srgbClr val="DFE4EC"/>
                </a:solidFill>
                <a:latin typeface="Aptos"/>
              </a:rPr>
              <a:t>ciudades</a:t>
            </a:r>
            <a:r>
              <a:rPr sz="1400" dirty="0">
                <a:solidFill>
                  <a:srgbClr val="DFE4EC"/>
                </a:solidFill>
                <a:latin typeface="Aptos"/>
              </a:rPr>
              <a:t> de </a:t>
            </a:r>
            <a:r>
              <a:rPr sz="1400" dirty="0" err="1">
                <a:solidFill>
                  <a:srgbClr val="DFE4EC"/>
                </a:solidFill>
                <a:latin typeface="Aptos"/>
              </a:rPr>
              <a:t>expansión</a:t>
            </a:r>
            <a:endParaRPr sz="1400" dirty="0">
              <a:solidFill>
                <a:srgbClr val="DFE4E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5928884"/>
            <a:ext cx="10975388" cy="384048"/>
          </a:xfrm>
          <a:prstGeom prst="roundRect">
            <a:avLst/>
          </a:prstGeom>
          <a:solidFill>
            <a:srgbClr val="06224F"/>
          </a:solidFill>
          <a:ln>
            <a:solidFill>
              <a:srgbClr val="D4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843" y="5943600"/>
            <a:ext cx="1165215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FFFFFF"/>
                </a:solidFill>
                <a:latin typeface="Aptos"/>
              </a:rPr>
              <a:t>Ciudades</a:t>
            </a:r>
            <a:r>
              <a:rPr dirty="0">
                <a:solidFill>
                  <a:srgbClr val="FFFFFF"/>
                </a:solidFill>
                <a:latin typeface="Aptos"/>
              </a:rPr>
              <a:t> </a:t>
            </a:r>
            <a:r>
              <a:rPr dirty="0" err="1">
                <a:solidFill>
                  <a:srgbClr val="FFFFFF"/>
                </a:solidFill>
                <a:latin typeface="Aptos"/>
              </a:rPr>
              <a:t>incluidas</a:t>
            </a:r>
            <a:r>
              <a:rPr dirty="0">
                <a:solidFill>
                  <a:srgbClr val="FFFFFF"/>
                </a:solidFill>
                <a:latin typeface="Aptos"/>
              </a:rPr>
              <a:t>: Oakland, Sacramento, San Jose, Stockton, Fairfield, Modesto, Santa Rosa y Woodland</a:t>
            </a:r>
            <a:r>
              <a:rPr sz="11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2997" y="6419088"/>
            <a:ext cx="3642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dirty="0">
                <a:solidFill>
                  <a:srgbClr val="D4AA42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D4AA42"/>
                </a:solidFill>
                <a:latin typeface="Aptos"/>
              </a:rPr>
              <a:t>2</a:t>
            </a:r>
            <a:endParaRPr sz="1300" b="1" dirty="0">
              <a:solidFill>
                <a:srgbClr val="D4AA4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1828800" cy="0"/>
          </a:xfrm>
          <a:prstGeom prst="line">
            <a:avLst/>
          </a:prstGeom>
          <a:noFill/>
          <a:ln w="13970">
            <a:solidFill>
              <a:srgbClr val="D6A93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2286000" cy="0"/>
          </a:xfrm>
          <a:prstGeom prst="line">
            <a:avLst/>
          </a:prstGeom>
          <a:noFill/>
          <a:ln w="8890">
            <a:solidFill>
              <a:srgbClr val="D6A93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mnt/data/vm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4389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384280" y="62362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256264" y="6464808"/>
            <a:ext cx="420624" cy="0"/>
          </a:xfrm>
          <a:prstGeom prst="line">
            <a:avLst/>
          </a:prstGeom>
          <a:noFill/>
          <a:ln w="11430">
            <a:solidFill>
              <a:srgbClr val="D6A93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" name="Text 5"/>
          <p:cNvSpPr/>
          <p:nvPr/>
        </p:nvSpPr>
        <p:spPr>
          <a:xfrm>
            <a:off x="1965960" y="9601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 Norte - ciudades ancla y expansión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993392" y="16093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Frontera urbana, multicultural y estratégica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77240" y="2331720"/>
            <a:ext cx="4983480" cy="2240280"/>
          </a:xfrm>
          <a:prstGeom prst="roundRect">
            <a:avLst>
              <a:gd name="adj" fmla="val 3265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97840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⌖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25328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Ciudades ancla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05840" y="3044952"/>
            <a:ext cx="4526280" cy="1435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Oakland • San José • San Francisco • Hayward • Concord • Sacramento. Funcionan como centros de operación, convocatoria, alianzas, formación y lanzamiento regional.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6172200" y="2331720"/>
            <a:ext cx="4983480" cy="2240280"/>
          </a:xfrm>
          <a:prstGeom prst="roundRect">
            <a:avLst>
              <a:gd name="adj" fmla="val 3265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637336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↗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03720" y="25328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Ciudades de expansión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3044952"/>
            <a:ext cx="4526280" cy="1435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Richmond • Antioch • Vallejo • Fairfield • Santa Rosa • Woodland • Modesto • Stockton. Funcionan como corredores de desarrollo hispano, evangelismo relacional e identificación de líderes.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868680" y="5074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 la zona norte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" y="544982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liderazgo urbano, activar plantadores bilingües y sostener presencia misional en comunidades hispanas diversas.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1828800" cy="0"/>
          </a:xfrm>
          <a:prstGeom prst="line">
            <a:avLst/>
          </a:prstGeom>
          <a:noFill/>
          <a:ln w="13970">
            <a:solidFill>
              <a:srgbClr val="D6A93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2286000" cy="0"/>
          </a:xfrm>
          <a:prstGeom prst="line">
            <a:avLst/>
          </a:prstGeom>
          <a:noFill/>
          <a:ln w="8890">
            <a:solidFill>
              <a:srgbClr val="D6A93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mnt/data/vm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4389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384280" y="62362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256264" y="6464808"/>
            <a:ext cx="420624" cy="0"/>
          </a:xfrm>
          <a:prstGeom prst="line">
            <a:avLst/>
          </a:prstGeom>
          <a:noFill/>
          <a:ln w="11430">
            <a:solidFill>
              <a:srgbClr val="D6A93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196596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Reclutamiento de plantadores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011680" y="16276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Identificar, evaluar y acompañar líderes llamados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233172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102412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✦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4480" y="25328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Perfil espiritual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51560" y="3044952"/>
            <a:ext cx="3017520" cy="1709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Llamado confirmado, carácter probado, salud espiritual, fidelidad doctrinal y vida devocional consistente.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4526280" y="233172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472744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◎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57800" y="25328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Perfil relacional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754880" y="3044952"/>
            <a:ext cx="3017520" cy="1709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Estabilidad familiar, comunicación clara, liderazgo servicial, capacidad de formar equipos y disposición a rendir cuentas.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8229600" y="233172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843076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↗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961120" y="2532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Perfil misional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58200" y="3044952"/>
            <a:ext cx="2697480" cy="1709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Carga evangelística, compromiso con discipulado, sensibilidad cultural y visión de multiplicación desde el inicio.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822960" y="5285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sugerida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743200" y="5285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Prospecto → conversación pastoral → evaluación → formación → residencia / acompañamiento → envío → seguimiento.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1828800" cy="0"/>
          </a:xfrm>
          <a:prstGeom prst="line">
            <a:avLst/>
          </a:prstGeom>
          <a:noFill/>
          <a:ln w="13970">
            <a:solidFill>
              <a:srgbClr val="D6A93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2286000" cy="0"/>
          </a:xfrm>
          <a:prstGeom prst="line">
            <a:avLst/>
          </a:prstGeom>
          <a:noFill/>
          <a:ln w="8890">
            <a:solidFill>
              <a:srgbClr val="D6A93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mnt/data/vm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4389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384280" y="62362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256264" y="6464808"/>
            <a:ext cx="420624" cy="0"/>
          </a:xfrm>
          <a:prstGeom prst="line">
            <a:avLst/>
          </a:prstGeom>
          <a:noFill/>
          <a:ln w="11430">
            <a:solidFill>
              <a:srgbClr val="D6A93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1965960" y="960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y respuestas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011680" y="1664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Bloque formal de conversación estratégica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011680" y="2103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escuchar a líderes, clarificar la ruta y recoger próximos pasos por zona.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724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Text 9"/>
          <p:cNvSpPr/>
          <p:nvPr/>
        </p:nvSpPr>
        <p:spPr>
          <a:xfrm>
            <a:off x="978408" y="32826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⌖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3264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Ciudades ancla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05840" y="3776472"/>
            <a:ext cx="214884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¿Dónde existe liderazgo, iglesia anfitriona o capacidad de convocatoria?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361188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Text 13"/>
          <p:cNvSpPr/>
          <p:nvPr/>
        </p:nvSpPr>
        <p:spPr>
          <a:xfrm>
            <a:off x="3813048" y="32826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↗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343400" y="3264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Expansión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840480" y="3776472"/>
            <a:ext cx="214884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¿Qué ciudades requieren presencia, seguimiento y nuevos obreros?</a:t>
            </a:r>
            <a:endParaRPr lang="en-US" sz="1440" dirty="0"/>
          </a:p>
        </p:txBody>
      </p:sp>
      <p:sp>
        <p:nvSpPr>
          <p:cNvPr id="19" name="Shape 16"/>
          <p:cNvSpPr/>
          <p:nvPr/>
        </p:nvSpPr>
        <p:spPr>
          <a:xfrm>
            <a:off x="644652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Text 17"/>
          <p:cNvSpPr/>
          <p:nvPr/>
        </p:nvSpPr>
        <p:spPr>
          <a:xfrm>
            <a:off x="6647688" y="32826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◉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78040" y="3264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Plantadores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675120" y="3776472"/>
            <a:ext cx="214884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¿Quiénes deben ser identificados, evaluados y acompañados?</a:t>
            </a:r>
            <a:endParaRPr lang="en-US" sz="1440" dirty="0"/>
          </a:p>
        </p:txBody>
      </p:sp>
      <p:sp>
        <p:nvSpPr>
          <p:cNvPr id="23" name="Shape 20"/>
          <p:cNvSpPr/>
          <p:nvPr/>
        </p:nvSpPr>
        <p:spPr>
          <a:xfrm>
            <a:off x="9281160" y="30632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Text 21"/>
          <p:cNvSpPr/>
          <p:nvPr/>
        </p:nvSpPr>
        <p:spPr>
          <a:xfrm>
            <a:off x="9482328" y="32826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✓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012680" y="3264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Próximos pasos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509760" y="3776472"/>
            <a:ext cx="169164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Orar, conectar, formar, enviar y dar seguimiento.</a:t>
            </a:r>
            <a:endParaRPr lang="en-US" sz="1440" dirty="0"/>
          </a:p>
        </p:txBody>
      </p:sp>
      <p:sp>
        <p:nvSpPr>
          <p:cNvPr id="27" name="Text 24"/>
          <p:cNvSpPr/>
          <p:nvPr/>
        </p:nvSpPr>
        <p:spPr>
          <a:xfrm>
            <a:off x="777240" y="4983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 sugerido: 25-35 minutos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77240" y="5394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responder preguntas estratégicas; después cerrar con convicciones no negociables.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1828800" cy="0"/>
          </a:xfrm>
          <a:prstGeom prst="line">
            <a:avLst/>
          </a:prstGeom>
          <a:noFill/>
          <a:ln w="13970">
            <a:solidFill>
              <a:srgbClr val="D6A93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2286000" cy="0"/>
          </a:xfrm>
          <a:prstGeom prst="line">
            <a:avLst/>
          </a:prstGeom>
          <a:noFill/>
          <a:ln w="8890">
            <a:solidFill>
              <a:srgbClr val="D6A93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mnt/data/vm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4389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384280" y="62362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256264" y="6464808"/>
            <a:ext cx="420624" cy="0"/>
          </a:xfrm>
          <a:prstGeom prst="line">
            <a:avLst/>
          </a:prstGeom>
          <a:noFill/>
          <a:ln w="11430">
            <a:solidFill>
              <a:srgbClr val="D6A93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1965960" y="91440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3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cosas no negociables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201168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la plantación de iglesias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31520" y="233172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93268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📖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63040" y="2532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Doctrina sana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0120" y="3044952"/>
            <a:ext cx="2971800" cy="1801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La iglesia nace bajo la autoridad de Cristo y de la Palabra. El evangelio debe ser predicado fielmente, con claridad bíblica en salvación, iglesia, discipulado, bautismo, membresía, ordenanzas, liderazgo y misión.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4389120" y="233172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459028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👥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120640" y="2532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Liderazgo aprobado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17720" y="3044952"/>
            <a:ext cx="2971800" cy="1801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El plantador debe ser llamado, evaluado y acompañado. La evaluación protege al obrero, a su familia y a la futura congregación.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8046720" y="233172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8247888" y="25511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A933"/>
                </a:solidFill>
              </a:rPr>
              <a:t>🌱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778240" y="2532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Misión multiplicadora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75320" y="3044952"/>
            <a:ext cx="2971800" cy="1801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La iglesia debe nacer pensando en hacer discípulos y reproducirse: evangelismo, seguimiento, discipulado, bautismo, desarrollo de líderes y envío.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1828800" cy="0"/>
          </a:xfrm>
          <a:prstGeom prst="line">
            <a:avLst/>
          </a:prstGeom>
          <a:noFill/>
          <a:ln w="13970">
            <a:solidFill>
              <a:srgbClr val="D6A93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2286000" cy="0"/>
          </a:xfrm>
          <a:prstGeom prst="line">
            <a:avLst/>
          </a:prstGeom>
          <a:noFill/>
          <a:ln w="8890">
            <a:solidFill>
              <a:srgbClr val="D6A93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mnt/data/vm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4389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384280" y="62362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256264" y="6464808"/>
            <a:ext cx="420624" cy="0"/>
          </a:xfrm>
          <a:prstGeom prst="line">
            <a:avLst/>
          </a:prstGeom>
          <a:noFill/>
          <a:ln w="11430">
            <a:solidFill>
              <a:srgbClr val="D6A93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1965960" y="9601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final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868680" y="1993392"/>
            <a:ext cx="9966960" cy="1874520"/>
          </a:xfrm>
          <a:prstGeom prst="roundRect">
            <a:avLst>
              <a:gd name="adj" fmla="val 3415"/>
            </a:avLst>
          </a:prstGeom>
          <a:solidFill>
            <a:srgbClr val="0B2C50">
              <a:alpha val="82000"/>
            </a:srgbClr>
          </a:solidFill>
          <a:ln w="15240">
            <a:solidFill>
              <a:srgbClr val="D6A93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Text 7"/>
          <p:cNvSpPr/>
          <p:nvPr/>
        </p:nvSpPr>
        <p:spPr>
          <a:xfrm>
            <a:off x="1143000" y="2304288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plantamos iglesias solo para abrir lugares de reunión; plantamos iglesias bíblicas, con líderes aprobados y con visión de multiplicación.”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143000" y="427939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D6A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Conectamos líderes. Formamos plantadores. Multiplicamos iglesias.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05840" y="5074920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234440" y="52760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Orar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34440" y="5788152"/>
            <a:ext cx="246888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Por obreros, ciudades y alianzas.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4251960" y="5074920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Text 13"/>
          <p:cNvSpPr/>
          <p:nvPr/>
        </p:nvSpPr>
        <p:spPr>
          <a:xfrm>
            <a:off x="4480560" y="52760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Identificar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480560" y="5788152"/>
            <a:ext cx="246888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Líderes y plantadores potenciales.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7498080" y="5074920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0B2C50">
              <a:alpha val="88000"/>
            </a:srgbClr>
          </a:solidFill>
          <a:ln w="13335">
            <a:solidFill>
              <a:srgbClr val="D6A9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7726680" y="52760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Acompañar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26680" y="5788152"/>
            <a:ext cx="246888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C8D0DD"/>
                </a:solidFill>
              </a:rPr>
              <a:t>Formación, envío y seguimiento.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512</Words>
  <Application>Microsoft Macintosh PowerPoint</Application>
  <PresentationFormat>Widescreen</PresentationFormat>
  <Paragraphs>90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VMC - Más que una plantación</dc:title>
  <dc:subject>VMC - Plan Estratégico Regional</dc:subject>
  <dc:creator>OpenAI</dc:creator>
  <cp:lastModifiedBy>Rene Osorio</cp:lastModifiedBy>
  <cp:revision>2</cp:revision>
  <dcterms:created xsi:type="dcterms:W3CDTF">2026-05-07T03:50:48Z</dcterms:created>
  <dcterms:modified xsi:type="dcterms:W3CDTF">2026-05-07T12:05:03Z</dcterms:modified>
</cp:coreProperties>
</file>